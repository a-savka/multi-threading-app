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360000" y="1980000"/>
            <a:ext cx="9360000" cy="5040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2c3e50"/>
              </a:solidFill>
              <a:latin typeface="Noto Sans Regular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9360000" cy="504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4567320" cy="504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155920" y="1980000"/>
            <a:ext cx="4567320" cy="504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360000" y="301320"/>
            <a:ext cx="9360000" cy="4445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2c3e50"/>
              </a:solidFill>
              <a:latin typeface="Noto Sans Regular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155920" y="1980000"/>
            <a:ext cx="4567320" cy="504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360000" y="461232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4567320" cy="504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515592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5155920" y="461232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515592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360000" y="4612320"/>
            <a:ext cx="936000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936000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60000" y="4612320"/>
            <a:ext cx="936000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515592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360000" y="461232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5155920" y="461232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524760" y="198000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689160" y="198000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360000" y="461232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3524760" y="461232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6689160" y="461232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360000" y="1980000"/>
            <a:ext cx="9360000" cy="5040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2c3e50"/>
              </a:solidFill>
              <a:latin typeface="Noto Sans Regular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9360000" cy="504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4567320" cy="504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5155920" y="1980000"/>
            <a:ext cx="4567320" cy="504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360000" y="301320"/>
            <a:ext cx="9360000" cy="4445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2c3e50"/>
              </a:solidFill>
              <a:latin typeface="Noto Sans Regular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155920" y="1980000"/>
            <a:ext cx="4567320" cy="504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360000" y="461232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4567320" cy="504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15592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5155920" y="461232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15592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360000" y="4612320"/>
            <a:ext cx="936000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936000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60000" y="4612320"/>
            <a:ext cx="936000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515592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360000" y="461232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5155920" y="461232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3524760" y="198000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6689160" y="198000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360000" y="461232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3524760" y="461232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body"/>
          </p:nvPr>
        </p:nvSpPr>
        <p:spPr>
          <a:xfrm>
            <a:off x="6689160" y="461232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360000" y="1980000"/>
            <a:ext cx="9360000" cy="5040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2c3e50"/>
              </a:solidFill>
              <a:latin typeface="Noto Sans Regular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9360000" cy="504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4567320" cy="504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55920" y="1980000"/>
            <a:ext cx="4567320" cy="504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ubTitle"/>
          </p:nvPr>
        </p:nvSpPr>
        <p:spPr>
          <a:xfrm>
            <a:off x="360000" y="301320"/>
            <a:ext cx="9360000" cy="4445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2c3e50"/>
              </a:solidFill>
              <a:latin typeface="Noto Sans Regular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5155920" y="1980000"/>
            <a:ext cx="4567320" cy="504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360000" y="461232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4567320" cy="504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515592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5155920" y="461232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515592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360000" y="4612320"/>
            <a:ext cx="936000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936000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360000" y="4612320"/>
            <a:ext cx="936000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5155920" y="198000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360000" y="461232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5155920" y="4612320"/>
            <a:ext cx="456732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3524760" y="198000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body"/>
          </p:nvPr>
        </p:nvSpPr>
        <p:spPr>
          <a:xfrm>
            <a:off x="6689160" y="198000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 type="body"/>
          </p:nvPr>
        </p:nvSpPr>
        <p:spPr>
          <a:xfrm>
            <a:off x="360000" y="461232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 type="body"/>
          </p:nvPr>
        </p:nvSpPr>
        <p:spPr>
          <a:xfrm>
            <a:off x="3524760" y="461232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  <p:sp>
        <p:nvSpPr>
          <p:cNvPr id="127" name="PlaceHolder 7"/>
          <p:cNvSpPr>
            <a:spLocks noGrp="1"/>
          </p:cNvSpPr>
          <p:nvPr>
            <p:ph type="body"/>
          </p:nvPr>
        </p:nvSpPr>
        <p:spPr>
          <a:xfrm>
            <a:off x="6689160" y="4612320"/>
            <a:ext cx="3013560" cy="2403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7200000"/>
            <a:ext cx="10080000" cy="360000"/>
          </a:xfrm>
          <a:prstGeom prst="rect">
            <a:avLst/>
          </a:prstGeom>
          <a:solidFill>
            <a:srgbClr val="2c3e50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0" y="0"/>
            <a:ext cx="10080000" cy="1620000"/>
          </a:xfrm>
          <a:prstGeom prst="rect">
            <a:avLst/>
          </a:prstGeom>
          <a:solidFill>
            <a:srgbClr val="2c3e50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3"/>
          <p:cNvSpPr>
            <a:spLocks noGrp="1"/>
          </p:cNvSpPr>
          <p:nvPr>
            <p:ph type="title"/>
          </p:nvPr>
        </p:nvSpPr>
        <p:spPr>
          <a:xfrm>
            <a:off x="360000" y="301320"/>
            <a:ext cx="9360000" cy="958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Noto Sans Black"/>
              </a:rPr>
              <a:t>Click to edit the title text format</a:t>
            </a:r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360000" y="1980000"/>
            <a:ext cx="9360000" cy="504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Aft>
                <a:spcPts val="1414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2c3e50"/>
                </a:solidFill>
                <a:latin typeface="Noto Sans SemiBold"/>
              </a:rPr>
              <a:t>Click to edit the outline text format</a:t>
            </a:r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  <a:p>
            <a:pPr lvl="1" marL="864000" indent="-324000">
              <a:spcAft>
                <a:spcPts val="113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c3e50"/>
                </a:solidFill>
                <a:latin typeface="Noto Sans Regular"/>
              </a:rPr>
              <a:t>Second Outline Level</a:t>
            </a:r>
            <a:endParaRPr b="0" lang="en-US" sz="2800" spc="-1" strike="noStrike">
              <a:solidFill>
                <a:srgbClr val="2c3e50"/>
              </a:solidFill>
              <a:latin typeface="Noto Sans Regular"/>
            </a:endParaRPr>
          </a:p>
          <a:p>
            <a:pPr lvl="2" marL="1296000" indent="-288000">
              <a:spcAft>
                <a:spcPts val="850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2c3e50"/>
                </a:solidFill>
                <a:latin typeface="Noto Sans Regular"/>
              </a:rPr>
              <a:t>Third Outline Level</a:t>
            </a:r>
            <a:endParaRPr b="0" lang="en-US" sz="2400" spc="-1" strike="noStrike">
              <a:solidFill>
                <a:srgbClr val="2c3e50"/>
              </a:solidFill>
              <a:latin typeface="Noto Sans Regular"/>
            </a:endParaRPr>
          </a:p>
          <a:p>
            <a:pPr lvl="3" marL="1728000" indent="-216000">
              <a:spcAft>
                <a:spcPts val="567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2c3e50"/>
                </a:solidFill>
                <a:latin typeface="Noto Sans Regular"/>
              </a:rPr>
              <a:t>Fourth Outline Level</a:t>
            </a:r>
            <a:endParaRPr b="0" lang="en-US" sz="2000" spc="-1" strike="noStrike">
              <a:solidFill>
                <a:srgbClr val="2c3e50"/>
              </a:solidFill>
              <a:latin typeface="Noto Sans Regular"/>
            </a:endParaRPr>
          </a:p>
          <a:p>
            <a:pPr lvl="4" marL="2160000" indent="-216000">
              <a:spcAft>
                <a:spcPts val="28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c3e50"/>
                </a:solidFill>
                <a:latin typeface="Noto Sans Regular"/>
              </a:rPr>
              <a:t>Fifth Outline Level</a:t>
            </a:r>
            <a:endParaRPr b="0" lang="en-US" sz="2000" spc="-1" strike="noStrike">
              <a:solidFill>
                <a:srgbClr val="2c3e50"/>
              </a:solidFill>
              <a:latin typeface="Noto Sans Regular"/>
            </a:endParaRPr>
          </a:p>
          <a:p>
            <a:pPr lvl="5" marL="2592000" indent="-216000">
              <a:spcAft>
                <a:spcPts val="28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c3e50"/>
                </a:solidFill>
                <a:latin typeface="Noto Sans Regular"/>
              </a:rPr>
              <a:t>Sixth Outline Level</a:t>
            </a:r>
            <a:endParaRPr b="0" lang="en-US" sz="2000" spc="-1" strike="noStrike">
              <a:solidFill>
                <a:srgbClr val="2c3e50"/>
              </a:solidFill>
              <a:latin typeface="Noto Sans Regular"/>
            </a:endParaRPr>
          </a:p>
          <a:p>
            <a:pPr lvl="6" marL="3024000" indent="-216000">
              <a:spcAft>
                <a:spcPts val="28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c3e50"/>
                </a:solidFill>
                <a:latin typeface="Noto Sans Regular"/>
              </a:rPr>
              <a:t>Seventh Outline Level</a:t>
            </a:r>
            <a:endParaRPr b="0" lang="en-US" sz="2000" spc="-1" strike="noStrike">
              <a:solidFill>
                <a:srgbClr val="2c3e50"/>
              </a:solidFill>
              <a:latin typeface="Noto Sans Regular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/>
          </p:nvPr>
        </p:nvSpPr>
        <p:spPr>
          <a:xfrm>
            <a:off x="360000" y="7200000"/>
            <a:ext cx="2880000" cy="360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ffff"/>
                </a:solidFill>
                <a:latin typeface="Noto Sans Black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ftr"/>
          </p:nvPr>
        </p:nvSpPr>
        <p:spPr>
          <a:xfrm>
            <a:off x="3420000" y="7200000"/>
            <a:ext cx="3240000" cy="360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Noto Sans Black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6" name="CustomShape 7"/>
          <p:cNvSpPr/>
          <p:nvPr/>
        </p:nvSpPr>
        <p:spPr>
          <a:xfrm>
            <a:off x="9270000" y="6894000"/>
            <a:ext cx="540000" cy="540000"/>
          </a:xfrm>
          <a:prstGeom prst="ellipse">
            <a:avLst/>
          </a:prstGeom>
          <a:solidFill>
            <a:srgbClr val="1abc9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" name="PlaceHolder 8"/>
          <p:cNvSpPr>
            <a:spLocks noGrp="1"/>
          </p:cNvSpPr>
          <p:nvPr>
            <p:ph type="sldNum"/>
          </p:nvPr>
        </p:nvSpPr>
        <p:spPr>
          <a:xfrm>
            <a:off x="9180000" y="6804000"/>
            <a:ext cx="720000" cy="720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fld id="{D0F33250-78B5-4EFD-B3D7-E612B3A9C4B2}" type="slidenum">
              <a:rPr b="1" lang="en-US" sz="1800" spc="-1" strike="noStrike">
                <a:solidFill>
                  <a:srgbClr val="ffffff"/>
                </a:solidFill>
                <a:latin typeface="Noto Sans Black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Noto Sans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0"/>
            <a:ext cx="10080000" cy="5040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360000" y="3780000"/>
            <a:ext cx="9360000" cy="958680"/>
          </a:xfrm>
          <a:prstGeom prst="rect">
            <a:avLst/>
          </a:prstGeom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3600" spc="-1" strike="noStrike">
                <a:solidFill>
                  <a:srgbClr val="ffffff"/>
                </a:solidFill>
                <a:latin typeface="Noto Sans Black"/>
              </a:rPr>
              <a:t>Click to edit the title text format</a:t>
            </a:r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360000" y="5220000"/>
            <a:ext cx="9360000" cy="1980000"/>
          </a:xfrm>
          <a:prstGeom prst="rect">
            <a:avLst/>
          </a:prstGeom>
        </p:spPr>
        <p:txBody>
          <a:bodyPr lIns="0" rIns="0" tIns="0" bIns="0">
            <a:normAutofit fontScale="66000"/>
          </a:bodyPr>
          <a:p>
            <a:pPr marL="432000" indent="-324000">
              <a:spcAft>
                <a:spcPts val="876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Noto Sans Regular"/>
              </a:rPr>
              <a:t>Click to edit the outline text format</a:t>
            </a:r>
            <a:endParaRPr b="0" lang="en-US" sz="2000" spc="-1" strike="noStrike">
              <a:solidFill>
                <a:srgbClr val="ffffff"/>
              </a:solidFill>
              <a:latin typeface="Noto Sans Regular"/>
            </a:endParaRPr>
          </a:p>
          <a:p>
            <a:pPr lvl="1" marL="864000" indent="-324000">
              <a:spcAft>
                <a:spcPts val="1134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Noto Sans Regular"/>
              </a:rPr>
              <a:t>Second Outline Level</a:t>
            </a:r>
            <a:endParaRPr b="0" lang="en-US" sz="2000" spc="-1" strike="noStrike">
              <a:solidFill>
                <a:srgbClr val="ffffff"/>
              </a:solidFill>
              <a:latin typeface="Noto Sans Regular"/>
            </a:endParaRPr>
          </a:p>
          <a:p>
            <a:pPr lvl="2" marL="1296000" indent="-288000">
              <a:spcAft>
                <a:spcPts val="850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Noto Sans Regular"/>
              </a:rPr>
              <a:t>Third Outline Level</a:t>
            </a:r>
            <a:endParaRPr b="0" lang="en-US" sz="2000" spc="-1" strike="noStrike">
              <a:solidFill>
                <a:srgbClr val="ffffff"/>
              </a:solidFill>
              <a:latin typeface="Noto Sans Regular"/>
            </a:endParaRPr>
          </a:p>
          <a:p>
            <a:pPr lvl="3" marL="1728000" indent="-216000">
              <a:spcAft>
                <a:spcPts val="567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Noto Sans Regular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Noto Sans Regular"/>
            </a:endParaRPr>
          </a:p>
          <a:p>
            <a:pPr lvl="4" marL="2160000" indent="-216000">
              <a:spcAft>
                <a:spcPts val="283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Noto Sans Regular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Noto Sans Regular"/>
            </a:endParaRPr>
          </a:p>
          <a:p>
            <a:pPr lvl="5" marL="2592000" indent="-216000">
              <a:spcAft>
                <a:spcPts val="283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Noto Sans Regular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Noto Sans Regular"/>
            </a:endParaRPr>
          </a:p>
          <a:p>
            <a:pPr lvl="6" marL="3024000" indent="-216000">
              <a:spcAft>
                <a:spcPts val="283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Noto Sans Regular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Noto Sans Regular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/>
          </p:nvPr>
        </p:nvSpPr>
        <p:spPr>
          <a:xfrm>
            <a:off x="360000" y="7200000"/>
            <a:ext cx="2880000" cy="360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ffff"/>
                </a:solidFill>
                <a:latin typeface="Noto Sans Black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/>
          </p:nvPr>
        </p:nvSpPr>
        <p:spPr>
          <a:xfrm>
            <a:off x="3420000" y="7200000"/>
            <a:ext cx="3240000" cy="360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Noto Sans Black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/>
          </p:nvPr>
        </p:nvSpPr>
        <p:spPr>
          <a:xfrm>
            <a:off x="9180000" y="6804000"/>
            <a:ext cx="720000" cy="720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fld id="{7914E362-7321-412D-90E8-2D2F6A542CAC}" type="slidenum">
              <a:rPr b="1" lang="en-US" sz="1800" spc="-1" strike="noStrike">
                <a:solidFill>
                  <a:srgbClr val="ffffff"/>
                </a:solidFill>
                <a:latin typeface="Noto Sans Black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Noto Sans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2520000" y="2520000"/>
            <a:ext cx="5040000" cy="2520000"/>
          </a:xfrm>
          <a:prstGeom prst="wedgeRectCallout">
            <a:avLst>
              <a:gd name="adj1" fmla="val -42740"/>
              <a:gd name="adj2" fmla="val 114189"/>
            </a:avLst>
          </a:pr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PlaceHolder 2"/>
          <p:cNvSpPr>
            <a:spLocks noGrp="1"/>
          </p:cNvSpPr>
          <p:nvPr>
            <p:ph type="title"/>
          </p:nvPr>
        </p:nvSpPr>
        <p:spPr>
          <a:xfrm>
            <a:off x="2700000" y="2700000"/>
            <a:ext cx="4680000" cy="2160000"/>
          </a:xfrm>
          <a:prstGeom prst="rect">
            <a:avLst/>
          </a:prstGeom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3600" spc="-1" strike="noStrike">
                <a:solidFill>
                  <a:srgbClr val="2c3e50"/>
                </a:solidFill>
                <a:latin typeface="Noto Sans Black"/>
              </a:rPr>
              <a:t>Click to edit the title text format</a:t>
            </a:r>
            <a:endParaRPr b="1" lang="en-US" sz="3600" spc="-1" strike="noStrike">
              <a:solidFill>
                <a:srgbClr val="2c3e50"/>
              </a:solidFill>
              <a:latin typeface="Noto Sans Black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3420000" y="5040000"/>
            <a:ext cx="6300000" cy="2160000"/>
          </a:xfrm>
          <a:prstGeom prst="rect">
            <a:avLst/>
          </a:prstGeom>
        </p:spPr>
        <p:txBody>
          <a:bodyPr lIns="0" rIns="0" tIns="0" bIns="0">
            <a:normAutofit fontScale="76000"/>
          </a:bodyPr>
          <a:p>
            <a:pPr marL="432000" indent="-324000">
              <a:spcAft>
                <a:spcPts val="876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Noto Sans Regular"/>
              </a:rPr>
              <a:t>Click to edit the outline text format</a:t>
            </a:r>
            <a:endParaRPr b="0" lang="en-US" sz="2000" spc="-1" strike="noStrike">
              <a:solidFill>
                <a:srgbClr val="ffffff"/>
              </a:solidFill>
              <a:latin typeface="Noto Sans Regular"/>
            </a:endParaRPr>
          </a:p>
          <a:p>
            <a:pPr lvl="1" marL="864000" indent="-324000">
              <a:spcAft>
                <a:spcPts val="1134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Noto Sans Regular"/>
              </a:rPr>
              <a:t>Second Outline Level</a:t>
            </a:r>
            <a:endParaRPr b="0" lang="en-US" sz="2000" spc="-1" strike="noStrike">
              <a:solidFill>
                <a:srgbClr val="ffffff"/>
              </a:solidFill>
              <a:latin typeface="Noto Sans Regular"/>
            </a:endParaRPr>
          </a:p>
          <a:p>
            <a:pPr lvl="2" marL="1296000" indent="-288000">
              <a:spcAft>
                <a:spcPts val="850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Noto Sans Regular"/>
              </a:rPr>
              <a:t>Third Outline Level</a:t>
            </a:r>
            <a:endParaRPr b="0" lang="en-US" sz="2000" spc="-1" strike="noStrike">
              <a:solidFill>
                <a:srgbClr val="ffffff"/>
              </a:solidFill>
              <a:latin typeface="Noto Sans Regular"/>
            </a:endParaRPr>
          </a:p>
          <a:p>
            <a:pPr lvl="3" marL="1728000" indent="-216000">
              <a:spcAft>
                <a:spcPts val="567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Noto Sans Regular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Noto Sans Regular"/>
            </a:endParaRPr>
          </a:p>
          <a:p>
            <a:pPr lvl="4" marL="2160000" indent="-216000">
              <a:spcAft>
                <a:spcPts val="283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Noto Sans Regular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Noto Sans Regular"/>
            </a:endParaRPr>
          </a:p>
          <a:p>
            <a:pPr lvl="5" marL="2592000" indent="-216000">
              <a:spcAft>
                <a:spcPts val="283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Noto Sans Regular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Noto Sans Regular"/>
            </a:endParaRPr>
          </a:p>
          <a:p>
            <a:pPr lvl="6" marL="3024000" indent="-216000">
              <a:spcAft>
                <a:spcPts val="283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Noto Sans Regular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Noto Sans Regular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/>
          </p:nvPr>
        </p:nvSpPr>
        <p:spPr>
          <a:xfrm>
            <a:off x="360000" y="7200000"/>
            <a:ext cx="2880000" cy="360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ffff"/>
                </a:solidFill>
                <a:latin typeface="Noto Sans Black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ftr"/>
          </p:nvPr>
        </p:nvSpPr>
        <p:spPr>
          <a:xfrm>
            <a:off x="3420000" y="7200000"/>
            <a:ext cx="3240000" cy="360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Noto Sans Black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sldNum"/>
          </p:nvPr>
        </p:nvSpPr>
        <p:spPr>
          <a:xfrm>
            <a:off x="9180000" y="6804000"/>
            <a:ext cx="720000" cy="720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fld id="{CE4BA65C-A26A-4B06-871F-0ACE0DC27ABF}" type="slidenum">
              <a:rPr b="1" lang="en-US" sz="1800" spc="-1" strike="noStrike">
                <a:solidFill>
                  <a:srgbClr val="ffffff"/>
                </a:solidFill>
                <a:latin typeface="Noto Sans Black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Noto Sans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1"/>
          <p:cNvSpPr txBox="1"/>
          <p:nvPr/>
        </p:nvSpPr>
        <p:spPr>
          <a:xfrm>
            <a:off x="424080" y="921960"/>
            <a:ext cx="9360000" cy="3192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3600" spc="-1" strike="noStrike">
                <a:solidFill>
                  <a:srgbClr val="ffffff"/>
                </a:solidFill>
                <a:latin typeface="Noto Sans Black"/>
              </a:rPr>
              <a:t>Анализ производительности и оптимизация многопоточного приложения для сбора курсов валют</a:t>
            </a:r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29" name="TextShape 2"/>
          <p:cNvSpPr txBox="1"/>
          <p:nvPr/>
        </p:nvSpPr>
        <p:spPr>
          <a:xfrm>
            <a:off x="360000" y="5220000"/>
            <a:ext cx="9360000" cy="198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2200" spc="-1" strike="noStrike">
                <a:solidFill>
                  <a:srgbClr val="ffffff"/>
                </a:solidFill>
                <a:latin typeface="Noto Sans Regular"/>
              </a:rPr>
              <a:t>Выполнил: Савка А. В.</a:t>
            </a:r>
            <a:endParaRPr b="0" lang="en-US" sz="2200" spc="-1" strike="noStrike">
              <a:solidFill>
                <a:srgbClr val="ffffff"/>
              </a:solidFill>
              <a:latin typeface="Noto Sans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 txBox="1"/>
          <p:nvPr/>
        </p:nvSpPr>
        <p:spPr>
          <a:xfrm>
            <a:off x="360000" y="301320"/>
            <a:ext cx="9360000" cy="958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Noto Sans Black"/>
              </a:rPr>
              <a:t>1.1. Сбор метрик с использованием Prometheus и Graphana</a:t>
            </a:r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31" name="TextShape 2"/>
          <p:cNvSpPr txBox="1"/>
          <p:nvPr/>
        </p:nvSpPr>
        <p:spPr>
          <a:xfrm>
            <a:off x="360000" y="1980000"/>
            <a:ext cx="9360000" cy="50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Aft>
                <a:spcPts val="1414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2c3e50"/>
                </a:solidFill>
                <a:latin typeface="Noto Sans SemiBold"/>
              </a:rPr>
              <a:t>Были визуализированы следующие </a:t>
            </a:r>
            <a:r>
              <a:rPr b="1" lang="en-US" sz="3200" spc="-1" strike="noStrike">
                <a:solidFill>
                  <a:srgbClr val="2c3e50"/>
                </a:solidFill>
                <a:latin typeface="Noto Sans SemiBold"/>
              </a:rPr>
              <a:t>метрики:</a:t>
            </a:r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  <a:p>
            <a:pPr lvl="1" marL="864000" indent="-324000">
              <a:spcAft>
                <a:spcPts val="113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c3e50"/>
                </a:solidFill>
                <a:latin typeface="Noto Sans Regular"/>
              </a:rPr>
              <a:t>время выполнения парсинга </a:t>
            </a:r>
            <a:r>
              <a:rPr b="0" lang="en-US" sz="2800" spc="-1" strike="noStrike">
                <a:solidFill>
                  <a:srgbClr val="2c3e50"/>
                </a:solidFill>
                <a:latin typeface="Noto Sans Regular"/>
              </a:rPr>
              <a:t>(parsing_time_seconds_count)</a:t>
            </a:r>
            <a:endParaRPr b="0" lang="en-US" sz="2800" spc="-1" strike="noStrike">
              <a:solidFill>
                <a:srgbClr val="2c3e50"/>
              </a:solidFill>
              <a:latin typeface="Noto Sans Regular"/>
            </a:endParaRPr>
          </a:p>
          <a:p>
            <a:pPr lvl="1" marL="864000" indent="-324000">
              <a:spcAft>
                <a:spcPts val="113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c3e50"/>
                </a:solidFill>
                <a:latin typeface="Noto Sans Regular"/>
              </a:rPr>
              <a:t>количество успешных парсингов </a:t>
            </a:r>
            <a:r>
              <a:rPr b="0" lang="en-US" sz="2800" spc="-1" strike="noStrike">
                <a:solidFill>
                  <a:srgbClr val="2c3e50"/>
                </a:solidFill>
                <a:latin typeface="Noto Sans Regular"/>
              </a:rPr>
              <a:t>(parsing_success_total)</a:t>
            </a:r>
            <a:endParaRPr b="0" lang="en-US" sz="2800" spc="-1" strike="noStrike">
              <a:solidFill>
                <a:srgbClr val="2c3e50"/>
              </a:solidFill>
              <a:latin typeface="Noto Sans Regular"/>
            </a:endParaRPr>
          </a:p>
          <a:p>
            <a:pPr lvl="1" marL="864000" indent="-324000">
              <a:spcAft>
                <a:spcPts val="113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c3e50"/>
                </a:solidFill>
                <a:latin typeface="Noto Sans Regular"/>
              </a:rPr>
              <a:t>количество ошибочных парсингов </a:t>
            </a:r>
            <a:r>
              <a:rPr b="0" lang="en-US" sz="2800" spc="-1" strike="noStrike">
                <a:solidFill>
                  <a:srgbClr val="2c3e50"/>
                </a:solidFill>
                <a:latin typeface="Noto Sans Regular"/>
              </a:rPr>
              <a:t>(parsing_failure_total)</a:t>
            </a:r>
            <a:endParaRPr b="0" lang="en-US" sz="2800" spc="-1" strike="noStrike">
              <a:solidFill>
                <a:srgbClr val="2c3e50"/>
              </a:solidFill>
              <a:latin typeface="Noto Sans Regular"/>
            </a:endParaRPr>
          </a:p>
          <a:p>
            <a:pPr lvl="1" marL="864000" indent="-324000">
              <a:spcAft>
                <a:spcPts val="1134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2c3e50"/>
                </a:solidFill>
                <a:latin typeface="Noto Sans Regular"/>
              </a:rPr>
              <a:t>количество записей, добавленых в базу </a:t>
            </a:r>
            <a:r>
              <a:rPr b="0" lang="en-US" sz="2800" spc="-1" strike="noStrike">
                <a:solidFill>
                  <a:srgbClr val="2c3e50"/>
                </a:solidFill>
                <a:latin typeface="Noto Sans Regular"/>
              </a:rPr>
              <a:t>данных (db_records_inserted_total)</a:t>
            </a:r>
            <a:endParaRPr b="0" lang="en-US" sz="2800" spc="-1" strike="noStrike">
              <a:solidFill>
                <a:srgbClr val="2c3e50"/>
              </a:solidFill>
              <a:latin typeface="Noto Sans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1"/>
          <p:cNvSpPr txBox="1"/>
          <p:nvPr/>
        </p:nvSpPr>
        <p:spPr>
          <a:xfrm>
            <a:off x="360000" y="301320"/>
            <a:ext cx="9360000" cy="958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Noto Sans Black"/>
              </a:rPr>
              <a:t>1.2. Скриншот метрик Graphana</a:t>
            </a:r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360000" y="1737360"/>
            <a:ext cx="9515520" cy="5282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1"/>
          <p:cNvSpPr txBox="1"/>
          <p:nvPr/>
        </p:nvSpPr>
        <p:spPr>
          <a:xfrm>
            <a:off x="360000" y="301320"/>
            <a:ext cx="9360000" cy="958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Noto Sans Black"/>
              </a:rPr>
              <a:t>1.3.  Выводы на основе метрик в Graphana</a:t>
            </a:r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35" name="TextShape 2"/>
          <p:cNvSpPr txBox="1"/>
          <p:nvPr/>
        </p:nvSpPr>
        <p:spPr>
          <a:xfrm>
            <a:off x="360000" y="1980000"/>
            <a:ext cx="9360000" cy="50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Aft>
                <a:spcPts val="1414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3200" spc="-1" strike="noStrike">
                <a:solidFill>
                  <a:srgbClr val="2c3e50"/>
                </a:solidFill>
                <a:latin typeface="Noto Sans SemiBold"/>
              </a:rPr>
              <a:t>Из графиков видно что приложение не имеет серьезных проблем с производительностью парсинга, при выполнении парсинга ошибки не возникают.</a:t>
            </a:r>
            <a:endParaRPr b="1" lang="en-US" sz="3200" spc="-1" strike="noStrike">
              <a:solidFill>
                <a:srgbClr val="2c3e50"/>
              </a:solidFill>
              <a:latin typeface="Noto Sans Semi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360000" y="301320"/>
            <a:ext cx="9360000" cy="958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Noto Sans Black"/>
              </a:rPr>
              <a:t>2.1.  Профилирование и диагностика с VisualVM</a:t>
            </a:r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360000" y="3474720"/>
            <a:ext cx="9360000" cy="2847600"/>
          </a:xfrm>
          <a:prstGeom prst="rect">
            <a:avLst/>
          </a:prstGeom>
          <a:ln>
            <a:noFill/>
          </a:ln>
        </p:spPr>
      </p:pic>
      <p:sp>
        <p:nvSpPr>
          <p:cNvPr id="138" name="TextShape 2"/>
          <p:cNvSpPr txBox="1"/>
          <p:nvPr/>
        </p:nvSpPr>
        <p:spPr>
          <a:xfrm>
            <a:off x="457200" y="2011680"/>
            <a:ext cx="9418320" cy="88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Noto Sans Regular"/>
              </a:rPr>
              <a:t>был проведен анализ графика использования памяти и файла Heap Dump, на его основе сделаны выводы о возможных проблемах, вызванах интенсивным созданием объектов во время работы приложения.</a:t>
            </a:r>
            <a:endParaRPr b="0" lang="en-US" sz="1800" spc="-1" strike="noStrike">
              <a:latin typeface="Noto Sans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360000" y="301320"/>
            <a:ext cx="9360000" cy="958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Noto Sans Black"/>
              </a:rPr>
              <a:t>2.2.  Профилирование и диагностика с VisualVM</a:t>
            </a:r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40" name="TextShape 2"/>
          <p:cNvSpPr txBox="1"/>
          <p:nvPr/>
        </p:nvSpPr>
        <p:spPr>
          <a:xfrm>
            <a:off x="457200" y="2011680"/>
            <a:ext cx="9418320" cy="88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Noto Sans Regular"/>
              </a:rPr>
              <a:t>Анализ кода показал что узким местом является создание новых экземпляров класса ParserWorker. В целях оптимизации он был преобразован в Java Bean, что улучшило работу с памятью</a:t>
            </a:r>
            <a:endParaRPr b="0" lang="en-US" sz="1800" spc="-1" strike="noStrike">
              <a:latin typeface="Noto Sans Regular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 rot="21597000">
            <a:off x="549720" y="3310200"/>
            <a:ext cx="8686800" cy="31759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360000" y="301320"/>
            <a:ext cx="9360000" cy="958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Noto Sans Black"/>
              </a:rPr>
              <a:t>3.1.  Анализ управления памятью и (GC) </a:t>
            </a:r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43" name="TextShape 2"/>
          <p:cNvSpPr txBox="1"/>
          <p:nvPr/>
        </p:nvSpPr>
        <p:spPr>
          <a:xfrm>
            <a:off x="457200" y="2194560"/>
            <a:ext cx="9235440" cy="3637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2000" spc="-1" strike="noStrike">
                <a:latin typeface="Noto Sans Regular"/>
              </a:rPr>
              <a:t>В приложении используется сборщик мусора **G1 Garbage Collector**.</a:t>
            </a:r>
            <a:endParaRPr b="0" lang="en-US" sz="2000" spc="-1" strike="noStrike">
              <a:latin typeface="Noto Sans Regular"/>
            </a:endParaRPr>
          </a:p>
          <a:p>
            <a:endParaRPr b="0" lang="en-US" sz="2000" spc="-1" strike="noStrike">
              <a:latin typeface="Noto Sans Regular"/>
            </a:endParaRPr>
          </a:p>
          <a:p>
            <a:r>
              <a:rPr b="0" lang="en-US" sz="2000" spc="-1" strike="noStrike">
                <a:latin typeface="Noto Sans Regular"/>
              </a:rPr>
              <a:t>По данным VisualVM:</a:t>
            </a:r>
            <a:endParaRPr b="0" lang="en-US" sz="2000" spc="-1" strike="noStrike">
              <a:latin typeface="Noto Sans Regular"/>
            </a:endParaRPr>
          </a:p>
          <a:p>
            <a:endParaRPr b="0" lang="en-US" sz="2000" spc="-1" strike="noStrike">
              <a:latin typeface="Noto Sans Regular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oto Sans Regular"/>
              </a:rPr>
              <a:t> </a:t>
            </a:r>
            <a:r>
              <a:rPr b="0" lang="en-US" sz="2000" spc="-1" strike="noStrike">
                <a:latin typeface="Noto Sans Regular"/>
              </a:rPr>
              <a:t>выполнено **17 сборок мусора**;</a:t>
            </a:r>
            <a:endParaRPr b="0" lang="en-US" sz="2000" spc="-1" strike="noStrike">
              <a:latin typeface="Noto Sans Regular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oto Sans Regular"/>
              </a:rPr>
              <a:t> </a:t>
            </a:r>
            <a:r>
              <a:rPr b="0" lang="en-US" sz="2000" spc="-1" strike="noStrike">
                <a:latin typeface="Noto Sans Regular"/>
              </a:rPr>
              <a:t>суммарное время работы GC составило около **219 мс**;</a:t>
            </a:r>
            <a:endParaRPr b="0" lang="en-US" sz="2000" spc="-1" strike="noStrike">
              <a:latin typeface="Noto Sans Regular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oto Sans Regular"/>
              </a:rPr>
              <a:t> </a:t>
            </a:r>
            <a:r>
              <a:rPr b="0" lang="en-US" sz="2000" spc="-1" strike="noStrike">
                <a:latin typeface="Noto Sans Regular"/>
              </a:rPr>
              <a:t>последняя причина запуска GC — *G1 Evacuation Pause*.</a:t>
            </a:r>
            <a:endParaRPr b="0" lang="en-US" sz="2000" spc="-1" strike="noStrike">
              <a:latin typeface="Noto Sans Regular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Noto Sans Regular"/>
            </a:endParaRPr>
          </a:p>
          <a:p>
            <a:r>
              <a:rPr b="0" lang="en-US" sz="2000" spc="-1" strike="noStrike">
                <a:latin typeface="Noto Sans Regular"/>
              </a:rPr>
              <a:t>Это означает, что сборщик мусора срабатывает редко и работает достаточно быстро, не создавая заметных задержек в работе приложения.</a:t>
            </a:r>
            <a:endParaRPr b="0" lang="en-US" sz="2000" spc="-1" strike="noStrike">
              <a:latin typeface="Noto Sans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360000" y="301320"/>
            <a:ext cx="9360000" cy="958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Noto Sans Black"/>
              </a:rPr>
              <a:t>3.2.  Анализ управления памятью и (GC) </a:t>
            </a:r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45" name="TextShape 2"/>
          <p:cNvSpPr txBox="1"/>
          <p:nvPr/>
        </p:nvSpPr>
        <p:spPr>
          <a:xfrm>
            <a:off x="365760" y="2095920"/>
            <a:ext cx="9235440" cy="3045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2000" spc="-1" strike="noStrike">
                <a:latin typeface="Noto Sans Regular"/>
              </a:rPr>
              <a:t>Eden Space</a:t>
            </a:r>
            <a:endParaRPr b="0" lang="en-US" sz="2000" spc="-1" strike="noStrike">
              <a:latin typeface="Noto Sans Regular"/>
            </a:endParaRPr>
          </a:p>
          <a:p>
            <a:endParaRPr b="0" lang="en-US" sz="2000" spc="-1" strike="noStrike">
              <a:latin typeface="Noto Sans Regular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oto Sans Regular"/>
              </a:rPr>
              <a:t>максимальный размер: ~96 MB;</a:t>
            </a:r>
            <a:endParaRPr b="0" lang="en-US" sz="2000" spc="-1" strike="noStrike">
              <a:latin typeface="Noto Sans Regular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oto Sans Regular"/>
              </a:rPr>
              <a:t>текущее использование: ~16 MB;</a:t>
            </a:r>
            <a:endParaRPr b="0" lang="en-US" sz="2000" spc="-1" strike="noStrike">
              <a:latin typeface="Noto Sans Regular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oto Sans Regular"/>
              </a:rPr>
              <a:t>количество сборок: 17.</a:t>
            </a:r>
            <a:endParaRPr b="0" lang="en-US" sz="2000" spc="-1" strike="noStrike">
              <a:latin typeface="Noto Sans Regular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Noto Sans Regular"/>
            </a:endParaRPr>
          </a:p>
          <a:p>
            <a:r>
              <a:rPr b="0" lang="en-US" sz="2000" spc="-1" strike="noStrike">
                <a:latin typeface="Noto Sans Regular"/>
              </a:rPr>
              <a:t>Можно сделать вывод, что в приложении активно создаются временные объекты, которые быстро удаляются. Это нормальное поведение для многопоточного приложения.</a:t>
            </a:r>
            <a:endParaRPr b="0" lang="en-US" sz="2000" spc="-1" strike="noStrike">
              <a:latin typeface="Noto Sans Regular"/>
            </a:endParaRPr>
          </a:p>
          <a:p>
            <a:endParaRPr b="0" lang="en-US" sz="2000" spc="-1" strike="noStrike">
              <a:latin typeface="Noto Sans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1"/>
          <p:cNvSpPr txBox="1"/>
          <p:nvPr/>
        </p:nvSpPr>
        <p:spPr>
          <a:xfrm>
            <a:off x="360000" y="301320"/>
            <a:ext cx="9360000" cy="958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Noto Sans Black"/>
              </a:rPr>
              <a:t>3.3.  Анализ управления памятью и (GC) </a:t>
            </a:r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47" name="TextShape 2"/>
          <p:cNvSpPr txBox="1"/>
          <p:nvPr/>
        </p:nvSpPr>
        <p:spPr>
          <a:xfrm>
            <a:off x="365760" y="2095920"/>
            <a:ext cx="9235440" cy="24548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2000" spc="-1" strike="noStrike">
                <a:latin typeface="Noto Sans Regular"/>
              </a:rPr>
              <a:t>Survivor Spaces</a:t>
            </a:r>
            <a:endParaRPr b="0" lang="en-US" sz="2000" spc="-1" strike="noStrike">
              <a:latin typeface="Noto Sans Regular"/>
            </a:endParaRPr>
          </a:p>
          <a:p>
            <a:endParaRPr b="0" lang="en-US" sz="2000" spc="-1" strike="noStrike">
              <a:latin typeface="Noto Sans Regular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oto Sans Regular"/>
              </a:rPr>
              <a:t>используется в основном один survivor space (S1);</a:t>
            </a:r>
            <a:endParaRPr b="0" lang="en-US" sz="2000" spc="-1" strike="noStrike">
              <a:latin typeface="Noto Sans Regular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oto Sans Regular"/>
              </a:rPr>
              <a:t>объекты редко «доживают» до старшего поколения;</a:t>
            </a:r>
            <a:endParaRPr b="0" lang="en-US" sz="2000" spc="-1" strike="noStrike">
              <a:latin typeface="Noto Sans Regular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oto Sans Regular"/>
              </a:rPr>
              <a:t>порог перемещения объектов (Tenuring Threshold) равен 15.</a:t>
            </a:r>
            <a:endParaRPr b="0" lang="en-US" sz="2000" spc="-1" strike="noStrike">
              <a:latin typeface="Noto Sans Regular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000" spc="-1" strike="noStrike">
              <a:latin typeface="Noto Sans Regular"/>
            </a:endParaRPr>
          </a:p>
          <a:p>
            <a:r>
              <a:rPr b="0" lang="en-US" sz="2000" spc="-1" strike="noStrike">
                <a:latin typeface="Noto Sans Regular"/>
              </a:rPr>
              <a:t>Это говорит о том, что большинство объектов имеют короткий жизненный цикл.</a:t>
            </a:r>
            <a:endParaRPr b="0" lang="en-US" sz="2000" spc="-1" strike="noStrike">
              <a:latin typeface="Noto Sans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Shape 1"/>
          <p:cNvSpPr txBox="1"/>
          <p:nvPr/>
        </p:nvSpPr>
        <p:spPr>
          <a:xfrm>
            <a:off x="360000" y="301320"/>
            <a:ext cx="9360000" cy="958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Noto Sans Black"/>
              </a:rPr>
              <a:t>4.1.  Поиск и исправление деградации производительности.</a:t>
            </a:r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49" name="TextShape 2"/>
          <p:cNvSpPr txBox="1"/>
          <p:nvPr/>
        </p:nvSpPr>
        <p:spPr>
          <a:xfrm>
            <a:off x="365760" y="2095920"/>
            <a:ext cx="9235440" cy="24548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2000" spc="-1" strike="noStrike">
                <a:latin typeface="Noto Sans Regular"/>
              </a:rPr>
              <a:t>Частые аллокации объектов</a:t>
            </a:r>
            <a:endParaRPr b="0" lang="en-US" sz="2000" spc="-1" strike="noStrike">
              <a:latin typeface="Noto Sans Regular"/>
            </a:endParaRPr>
          </a:p>
          <a:p>
            <a:endParaRPr b="0" lang="en-US" sz="2000" spc="-1" strike="noStrike">
              <a:latin typeface="Noto Sans Regular"/>
            </a:endParaRPr>
          </a:p>
          <a:p>
            <a:r>
              <a:rPr b="0" lang="en-US" sz="2000" spc="-1" strike="noStrike">
                <a:latin typeface="Noto Sans Regular"/>
              </a:rPr>
              <a:t>Основная проблема, связанная с частой аллокацией объектов, была выявлена и устранена на предыдущем этапе. Она заключалась в создании нового экземпляра ParserWorker при каждом запуске задачи парсинга, что приводило к огромной нагрузке на сборщик мусора. Проблема была решена путем преобразования ParserWorker в Spring-бин (синглтон).</a:t>
            </a:r>
            <a:endParaRPr b="0" lang="en-US" sz="2000" spc="-1" strike="noStrike">
              <a:latin typeface="Noto Sans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Shape 1"/>
          <p:cNvSpPr txBox="1"/>
          <p:nvPr/>
        </p:nvSpPr>
        <p:spPr>
          <a:xfrm>
            <a:off x="360000" y="301320"/>
            <a:ext cx="9360000" cy="958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Noto Sans Black"/>
              </a:rPr>
              <a:t>4.2.  Поиск и исправление деградации производительности.</a:t>
            </a:r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51" name="TextShape 2"/>
          <p:cNvSpPr txBox="1"/>
          <p:nvPr/>
        </p:nvSpPr>
        <p:spPr>
          <a:xfrm>
            <a:off x="365760" y="2095920"/>
            <a:ext cx="9235440" cy="2159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2000" spc="-1" strike="noStrike">
                <a:latin typeface="Noto Sans Regular"/>
              </a:rPr>
              <a:t>Проблема N+1 запросов к базе данных</a:t>
            </a:r>
            <a:endParaRPr b="0" lang="en-US" sz="2000" spc="-1" strike="noStrike">
              <a:latin typeface="Noto Sans Regular"/>
            </a:endParaRPr>
          </a:p>
          <a:p>
            <a:endParaRPr b="0" lang="en-US" sz="2000" spc="-1" strike="noStrike">
              <a:latin typeface="Noto Sans Regular"/>
            </a:endParaRPr>
          </a:p>
          <a:p>
            <a:r>
              <a:rPr b="0" lang="en-US" sz="2000" spc="-1" strike="noStrike">
                <a:latin typeface="Noto Sans Regular"/>
              </a:rPr>
              <a:t>Была обнаружена и устранена проблема N+1 запросов в ParserWorker. Вместо сохранения каждого объекта по отдельности, все обработанные объекты RawApiResponse собираются в список responsesToUpdate и сохраняются одним пакетным вызовом saveAll()</a:t>
            </a:r>
            <a:endParaRPr b="0" lang="en-US" sz="2000" spc="-1" strike="noStrike">
              <a:latin typeface="Noto Sans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360000" y="301320"/>
            <a:ext cx="9360000" cy="958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Noto Sans Black"/>
              </a:rPr>
              <a:t>4.3.  Поиск и исправление деградации производительности.</a:t>
            </a:r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53" name="TextShape 2"/>
          <p:cNvSpPr txBox="1"/>
          <p:nvPr/>
        </p:nvSpPr>
        <p:spPr>
          <a:xfrm>
            <a:off x="365760" y="2095920"/>
            <a:ext cx="9235440" cy="15681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2000" spc="-1" strike="noStrike">
                <a:latin typeface="Noto Sans Regular"/>
              </a:rPr>
              <a:t>Добавление индекса</a:t>
            </a:r>
            <a:endParaRPr b="0" lang="en-US" sz="2000" spc="-1" strike="noStrike">
              <a:latin typeface="Noto Sans Regular"/>
            </a:endParaRPr>
          </a:p>
          <a:p>
            <a:endParaRPr b="0" lang="en-US" sz="2000" spc="-1" strike="noStrike">
              <a:latin typeface="Noto Sans Regular"/>
            </a:endParaRPr>
          </a:p>
          <a:p>
            <a:r>
              <a:rPr b="0" lang="en-US" sz="2000" spc="-1" strike="noStrike">
                <a:latin typeface="Noto Sans Regular"/>
              </a:rPr>
              <a:t>Для оптимизации запроса выборки данных в сущность RawApiResponse был добавлен композитный индекс по полям status и receivedAt с помощью аннотаций @Table и @Index.</a:t>
            </a:r>
            <a:endParaRPr b="0" lang="en-US" sz="2000" spc="-1" strike="noStrike">
              <a:latin typeface="Noto Sans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Shape 1"/>
          <p:cNvSpPr txBox="1"/>
          <p:nvPr/>
        </p:nvSpPr>
        <p:spPr>
          <a:xfrm>
            <a:off x="360000" y="301320"/>
            <a:ext cx="9360000" cy="958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Noto Sans Black"/>
              </a:rPr>
              <a:t>5.1.  Интеграция OpenTelemetry и Jaeger</a:t>
            </a:r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55" name="TextShape 2"/>
          <p:cNvSpPr txBox="1"/>
          <p:nvPr/>
        </p:nvSpPr>
        <p:spPr>
          <a:xfrm>
            <a:off x="365760" y="1920240"/>
            <a:ext cx="9235440" cy="6814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2000" spc="-1" strike="noStrike">
                <a:latin typeface="Noto Sans Regular"/>
              </a:rPr>
              <a:t>На диаграмме выполнения видна иерархия операций и время, затраченное на каждую из них. </a:t>
            </a:r>
            <a:endParaRPr b="0" lang="en-US" sz="2000" spc="-1" strike="noStrike">
              <a:latin typeface="Noto Sans Regular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440640" y="2926080"/>
            <a:ext cx="6966000" cy="4114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Shape 1"/>
          <p:cNvSpPr txBox="1"/>
          <p:nvPr/>
        </p:nvSpPr>
        <p:spPr>
          <a:xfrm>
            <a:off x="360000" y="301320"/>
            <a:ext cx="9360000" cy="958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Noto Sans Black"/>
              </a:rPr>
              <a:t>Выводы</a:t>
            </a:r>
            <a:endParaRPr b="1" lang="en-US" sz="3600" spc="-1" strike="noStrike">
              <a:solidFill>
                <a:srgbClr val="ffffff"/>
              </a:solidFill>
              <a:latin typeface="Noto Sans Black"/>
            </a:endParaRPr>
          </a:p>
        </p:txBody>
      </p:sp>
      <p:sp>
        <p:nvSpPr>
          <p:cNvPr id="158" name="TextShape 2"/>
          <p:cNvSpPr txBox="1"/>
          <p:nvPr/>
        </p:nvSpPr>
        <p:spPr>
          <a:xfrm>
            <a:off x="365760" y="2095920"/>
            <a:ext cx="9235440" cy="27504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2000" spc="-1" strike="noStrike">
                <a:latin typeface="Noto Sans Regular"/>
              </a:rPr>
              <a:t>В результате анализа произаодительности приложения были обнаружены и исправлены следующие проблемы:</a:t>
            </a:r>
            <a:endParaRPr b="0" lang="en-US" sz="2000" spc="-1" strike="noStrike">
              <a:latin typeface="Noto Sans Regular"/>
            </a:endParaRPr>
          </a:p>
          <a:p>
            <a:endParaRPr b="0" lang="en-US" sz="2000" spc="-1" strike="noStrike">
              <a:latin typeface="Noto Sans Regular"/>
            </a:endParaRPr>
          </a:p>
          <a:p>
            <a:r>
              <a:rPr b="0" lang="en-US" sz="2000" spc="-1" strike="noStrike">
                <a:latin typeface="Noto Sans Regular"/>
              </a:rPr>
              <a:t>1. Частые аллокации объектов для ParserWorker</a:t>
            </a:r>
            <a:endParaRPr b="0" lang="en-US" sz="2000" spc="-1" strike="noStrike">
              <a:latin typeface="Noto Sans Regular"/>
            </a:endParaRPr>
          </a:p>
          <a:p>
            <a:r>
              <a:rPr b="0" lang="en-US" sz="2000" spc="-1" strike="noStrike">
                <a:latin typeface="Noto Sans Regular"/>
              </a:rPr>
              <a:t>2. Проблема N+1 в ParserWorker</a:t>
            </a:r>
            <a:endParaRPr b="0" lang="en-US" sz="2000" spc="-1" strike="noStrike">
              <a:latin typeface="Noto Sans Regular"/>
            </a:endParaRPr>
          </a:p>
          <a:p>
            <a:r>
              <a:rPr b="0" lang="en-US" sz="2000" spc="-1" strike="noStrike">
                <a:latin typeface="Noto Sans Regular"/>
              </a:rPr>
              <a:t>3. Отсутствие индекса для RawApiResponse</a:t>
            </a:r>
            <a:endParaRPr b="0" lang="en-US" sz="2000" spc="-1" strike="noStrike">
              <a:latin typeface="Noto Sans Regular"/>
            </a:endParaRPr>
          </a:p>
          <a:p>
            <a:endParaRPr b="0" lang="en-US" sz="2000" spc="-1" strike="noStrike">
              <a:latin typeface="Noto Sans Regular"/>
            </a:endParaRPr>
          </a:p>
          <a:p>
            <a:r>
              <a:rPr b="0" lang="en-US" sz="2000" spc="-1" strike="noStrike">
                <a:latin typeface="Noto Sans Regular"/>
              </a:rPr>
              <a:t>Устранение этих проблем позволило улучшить производительность приложения.</a:t>
            </a:r>
            <a:endParaRPr b="0" lang="en-US" sz="2000" spc="-1" strike="noStrike">
              <a:latin typeface="Noto Sans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2025-12-26T22:19:03Z</dcterms:created>
  <dc:creator/>
  <dc:description/>
  <dc:language>en-US</dc:language>
  <cp:lastModifiedBy/>
  <dcterms:modified xsi:type="dcterms:W3CDTF">2025-12-27T00:06:51Z</dcterms:modified>
  <cp:revision>12</cp:revision>
  <dc:subject/>
  <dc:title>Midnightblue</dc:title>
</cp:coreProperties>
</file>